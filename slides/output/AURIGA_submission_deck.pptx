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02920"/>
            <a:ext cx="54864" cy="54864"/>
          </a:xfrm>
          <a:prstGeom prst="ellipse">
            <a:avLst/>
          </a:prstGeom>
          <a:solidFill>
            <a:srgbClr val="FFC30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274320"/>
            <a:ext cx="36576" cy="36576"/>
          </a:xfrm>
          <a:prstGeom prst="ellipse">
            <a:avLst/>
          </a:prstGeom>
          <a:solidFill>
            <a:srgbClr val="FFC300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691640" y="685800"/>
            <a:ext cx="45720" cy="45720"/>
          </a:xfrm>
          <a:prstGeom prst="ellipse">
            <a:avLst/>
          </a:prstGeom>
          <a:solidFill>
            <a:srgbClr val="FFC300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194560" y="365760"/>
            <a:ext cx="64008" cy="64008"/>
          </a:xfrm>
          <a:prstGeom prst="ellipse">
            <a:avLst/>
          </a:prstGeom>
          <a:solidFill>
            <a:srgbClr val="FFC300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92240" y="411480"/>
            <a:ext cx="45720" cy="45720"/>
          </a:xfrm>
          <a:prstGeom prst="ellipse">
            <a:avLst/>
          </a:prstGeom>
          <a:solidFill>
            <a:srgbClr val="FFC300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69480" y="777240"/>
            <a:ext cx="54864" cy="54864"/>
          </a:xfrm>
          <a:prstGeom prst="ellipse">
            <a:avLst/>
          </a:prstGeom>
          <a:solidFill>
            <a:srgbClr val="FFC300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955280" y="320040"/>
            <a:ext cx="36576" cy="36576"/>
          </a:xfrm>
          <a:prstGeom prst="ellipse">
            <a:avLst/>
          </a:prstGeom>
          <a:solidFill>
            <a:srgbClr val="FFC300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868680"/>
            <a:ext cx="45720" cy="45720"/>
          </a:xfrm>
          <a:prstGeom prst="ellipse">
            <a:avLst/>
          </a:prstGeom>
          <a:solidFill>
            <a:srgbClr val="FFC300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4297680"/>
            <a:ext cx="36576" cy="36576"/>
          </a:xfrm>
          <a:prstGeom prst="ellipse">
            <a:avLst/>
          </a:prstGeom>
          <a:solidFill>
            <a:srgbClr val="FFC300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417320" y="4617720"/>
            <a:ext cx="45720" cy="45720"/>
          </a:xfrm>
          <a:prstGeom prst="ellipse">
            <a:avLst/>
          </a:prstGeom>
          <a:solidFill>
            <a:srgbClr val="FFC300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11680" y="4389120"/>
            <a:ext cx="54864" cy="54864"/>
          </a:xfrm>
          <a:prstGeom prst="ellipse">
            <a:avLst/>
          </a:prstGeom>
          <a:solidFill>
            <a:srgbClr val="FFC300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766560" y="4434840"/>
            <a:ext cx="45720" cy="45720"/>
          </a:xfrm>
          <a:prstGeom prst="ellipse">
            <a:avLst/>
          </a:prstGeom>
          <a:solidFill>
            <a:srgbClr val="FFC300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0" y="4663440"/>
            <a:ext cx="64008" cy="64008"/>
          </a:xfrm>
          <a:prstGeom prst="ellipse">
            <a:avLst/>
          </a:prstGeom>
          <a:solidFill>
            <a:srgbClr val="FFC300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4251960"/>
            <a:ext cx="36576" cy="36576"/>
          </a:xfrm>
          <a:prstGeom prst="ellipse">
            <a:avLst/>
          </a:prstGeom>
          <a:solidFill>
            <a:srgbClr val="FFC300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38912" y="530352"/>
            <a:ext cx="676656" cy="-237744"/>
          </a:xfrm>
          <a:prstGeom prst="line">
            <a:avLst/>
          </a:prstGeom>
          <a:noFill/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5568" y="292608"/>
            <a:ext cx="594360" cy="411480"/>
          </a:xfrm>
          <a:prstGeom prst="line">
            <a:avLst/>
          </a:prstGeom>
          <a:noFill/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09928" y="704088"/>
            <a:ext cx="502920" cy="-320040"/>
          </a:xfrm>
          <a:prstGeom prst="line">
            <a:avLst/>
          </a:prstGeom>
          <a:noFill/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10528" y="429768"/>
            <a:ext cx="777240" cy="365760"/>
          </a:xfrm>
          <a:prstGeom prst="line">
            <a:avLst/>
          </a:prstGeom>
          <a:noFill/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87768" y="795528"/>
            <a:ext cx="685800" cy="-457200"/>
          </a:xfrm>
          <a:prstGeom prst="line">
            <a:avLst/>
          </a:prstGeom>
          <a:noFill/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73568" y="338328"/>
            <a:ext cx="548640" cy="548640"/>
          </a:xfrm>
          <a:prstGeom prst="line">
            <a:avLst/>
          </a:prstGeom>
          <a:noFill/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4315968"/>
            <a:ext cx="685800" cy="320040"/>
          </a:xfrm>
          <a:prstGeom prst="line">
            <a:avLst/>
          </a:prstGeom>
          <a:noFill/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35608" y="4636008"/>
            <a:ext cx="594360" cy="-228600"/>
          </a:xfrm>
          <a:prstGeom prst="line">
            <a:avLst/>
          </a:prstGeom>
          <a:noFill/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84848" y="4453128"/>
            <a:ext cx="731520" cy="228600"/>
          </a:xfrm>
          <a:prstGeom prst="line">
            <a:avLst/>
          </a:prstGeom>
          <a:noFill/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16368" y="4681728"/>
            <a:ext cx="731520" cy="-411480"/>
          </a:xfrm>
          <a:prstGeom prst="line">
            <a:avLst/>
          </a:prstGeom>
          <a:noFill/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1691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ALPACA AI TRADING AGENTS HACKATHON 2026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201168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0" b="1" spc="8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AURIGA</a:t>
            </a:r>
            <a:endParaRPr lang="en-US" sz="9600" dirty="0"/>
          </a:p>
        </p:txBody>
      </p:sp>
      <p:sp>
        <p:nvSpPr>
          <p:cNvPr id="28" name="Text 26"/>
          <p:cNvSpPr/>
          <p:nvPr/>
        </p:nvSpPr>
        <p:spPr>
          <a:xfrm>
            <a:off x="548640" y="3154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Quant Research &amp; Investment Agent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8640" y="3703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Discover, validate, deploy -- the LLM narrates, it never decides.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4389120"/>
            <a:ext cx="1371600" cy="0"/>
          </a:xfrm>
          <a:prstGeom prst="line">
            <a:avLst/>
          </a:prstGeom>
          <a:noFill/>
          <a:ln w="25400">
            <a:solidFill>
              <a:srgbClr val="FFC3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deck  |  5-year backtest  |  Alpaca paper $100k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github.com/keisary/AURIGA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over vibes. The quant system decides. The LLM explains.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691640" cy="777240"/>
          </a:xfrm>
          <a:prstGeom prst="rect">
            <a:avLst>
              <a:gd name="adj" fmla="val 9412"/>
            </a:avLst>
          </a:prstGeom>
          <a:solidFill>
            <a:srgbClr val="001D3D"/>
          </a:solidFill>
          <a:ln w="9525">
            <a:solidFill>
              <a:srgbClr val="FFC300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5y · 1H/1D · options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rot="5400000">
            <a:off x="2221992" y="1709928"/>
            <a:ext cx="164592" cy="182880"/>
          </a:xfrm>
          <a:prstGeom prst="rtTriangle">
            <a:avLst/>
          </a:prstGeom>
          <a:solidFill>
            <a:srgbClr val="FFC300"/>
          </a:solidFill>
          <a:ln/>
        </p:spPr>
      </p:sp>
      <p:sp>
        <p:nvSpPr>
          <p:cNvPr id="8" name="Shape 6"/>
          <p:cNvSpPr/>
          <p:nvPr/>
        </p:nvSpPr>
        <p:spPr>
          <a:xfrm>
            <a:off x="2606040" y="1417320"/>
            <a:ext cx="1691640" cy="777240"/>
          </a:xfrm>
          <a:prstGeom prst="rect">
            <a:avLst>
              <a:gd name="adj" fmla="val 9412"/>
            </a:avLst>
          </a:prstGeom>
          <a:solidFill>
            <a:srgbClr val="001D3D"/>
          </a:solidFill>
          <a:ln w="9525">
            <a:solidFill>
              <a:srgbClr val="FFC300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15087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97480" y="1828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+ A2 + A3 · XGBoost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5400000">
            <a:off x="4370832" y="1709928"/>
            <a:ext cx="164592" cy="182880"/>
          </a:xfrm>
          <a:prstGeom prst="rtTriangle">
            <a:avLst/>
          </a:prstGeom>
          <a:solidFill>
            <a:srgbClr val="FFC3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1417320"/>
            <a:ext cx="1691640" cy="777240"/>
          </a:xfrm>
          <a:prstGeom prst="rect">
            <a:avLst>
              <a:gd name="adj" fmla="val 9412"/>
            </a:avLst>
          </a:prstGeom>
          <a:solidFill>
            <a:srgbClr val="001D3D"/>
          </a:solidFill>
          <a:ln w="9525">
            <a:solidFill>
              <a:srgbClr val="FFC300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5087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828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gates · fail-closed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rot="5400000">
            <a:off x="6519672" y="1709928"/>
            <a:ext cx="164592" cy="182880"/>
          </a:xfrm>
          <a:prstGeom prst="rtTriangle">
            <a:avLst/>
          </a:prstGeom>
          <a:solidFill>
            <a:srgbClr val="FFC300"/>
          </a:solidFill>
          <a:ln/>
        </p:spPr>
      </p:sp>
      <p:sp>
        <p:nvSpPr>
          <p:cNvPr id="16" name="Shape 14"/>
          <p:cNvSpPr/>
          <p:nvPr/>
        </p:nvSpPr>
        <p:spPr>
          <a:xfrm>
            <a:off x="6903720" y="1417320"/>
            <a:ext cx="1691640" cy="777240"/>
          </a:xfrm>
          <a:prstGeom prst="rect">
            <a:avLst>
              <a:gd name="adj" fmla="val 9412"/>
            </a:avLst>
          </a:prstGeom>
          <a:solidFill>
            <a:srgbClr val="001D3D"/>
          </a:solidFill>
          <a:ln w="9525">
            <a:solidFill>
              <a:srgbClr val="FFC300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15087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ALPACA MLEG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95160" y="1828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· atomic multi-leg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423160"/>
            <a:ext cx="8138160" cy="411480"/>
          </a:xfrm>
          <a:prstGeom prst="rect">
            <a:avLst>
              <a:gd name="adj" fmla="val 11111"/>
            </a:avLst>
          </a:prstGeom>
          <a:solidFill>
            <a:srgbClr val="000814"/>
          </a:solidFill>
          <a:ln w="12700">
            <a:solidFill>
              <a:srgbClr val="FFC300">
                <a:alpha val="70000"/>
              </a:srgbClr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57200" y="24231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 --&gt;  narrates / interprets     (no execution authority)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1089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45720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admitted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0" y="31089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~0.75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256032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shock AUC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31089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000" dirty="0"/>
          </a:p>
        </p:txBody>
      </p:sp>
      <p:sp>
        <p:nvSpPr>
          <p:cNvPr id="26" name="Text 24"/>
          <p:cNvSpPr/>
          <p:nvPr/>
        </p:nvSpPr>
        <p:spPr>
          <a:xfrm>
            <a:off x="466344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gates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31089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6000" dirty="0"/>
          </a:p>
        </p:txBody>
      </p:sp>
      <p:sp>
        <p:nvSpPr>
          <p:cNvPr id="28" name="Text 26"/>
          <p:cNvSpPr/>
          <p:nvPr/>
        </p:nvSpPr>
        <p:spPr>
          <a:xfrm>
            <a:off x="676656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large-cap universe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AURIGA  |  Submission deck  |  Alpaca AI Trading Agents 2026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503920" y="46634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AI LOGIC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agents, three testable theses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3337560"/>
          </a:xfrm>
          <a:prstGeom prst="rect">
            <a:avLst>
              <a:gd name="adj" fmla="val 3509"/>
            </a:avLst>
          </a:prstGeom>
          <a:solidFill>
            <a:srgbClr val="001D3D"/>
          </a:solidFill>
          <a:ln w="9525">
            <a:solidFill>
              <a:srgbClr val="FFC30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2606040" cy="91440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 DIRECTION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642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Directional alpha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-&gt; explainable rules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vertical spreads (bull / bear)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admitted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&gt;= 2, WR &gt;= 0.65, PF &gt;= 1.5, &gt;= 30 trades, BH/FDR-controlled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188720"/>
            <a:ext cx="2606040" cy="3337560"/>
          </a:xfrm>
          <a:prstGeom prst="rect">
            <a:avLst>
              <a:gd name="adj" fmla="val 3509"/>
            </a:avLst>
          </a:prstGeom>
          <a:solidFill>
            <a:srgbClr val="001D3D"/>
          </a:solidFill>
          <a:ln w="9525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188720"/>
            <a:ext cx="2606040" cy="914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 VOLATILITY RISK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16642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Volatility risk signal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2044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 on vol shock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2044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execution -- a guard for the risk engine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0440" y="2788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~0.75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352044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on RV[t+24] &gt; 1.5x RV[t]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2044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Long-vol straddles measured at median Sharpe -2.6. Buying vol loses -- so A2 stops premium sales when it flags danger.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1188720"/>
            <a:ext cx="2606040" cy="3337560"/>
          </a:xfrm>
          <a:prstGeom prst="rect">
            <a:avLst>
              <a:gd name="adj" fmla="val 3509"/>
            </a:avLst>
          </a:prstGeom>
          <a:solidFill>
            <a:srgbClr val="001D3D"/>
          </a:solidFill>
          <a:ln w="9525">
            <a:solidFill>
              <a:srgbClr val="FFC300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1188720"/>
            <a:ext cx="2606040" cy="91440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 PREMIUM SELLER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16642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Gated income engine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0080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AVOID_SELL rules on the ~2% tail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 call credit spreads (~3% OTM, 5% wide)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2788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~98%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640080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periods structurally profitable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selling when overbought + drawdown + regime shift coincide -- exactly the rare tail ML can flag.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6634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AURIGA  |  AI logic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503920" y="46634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RISK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deterministic gates -- fail-closed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passes ALL gates. If a gate cannot be verified, the order is blocked.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920240" cy="1188720"/>
          </a:xfrm>
          <a:prstGeom prst="rect">
            <a:avLst>
              <a:gd name="adj" fmla="val 4615"/>
            </a:avLst>
          </a:prstGeom>
          <a:solidFill>
            <a:srgbClr val="001D3D"/>
          </a:solidFill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457200" cy="292608"/>
          </a:xfrm>
          <a:prstGeom prst="rect">
            <a:avLst>
              <a:gd name="adj" fmla="val 12500"/>
            </a:avLst>
          </a:prstGeom>
          <a:solidFill>
            <a:srgbClr val="FFC3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loss limit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-2% of equity  --&gt;  no new orders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1508760"/>
            <a:ext cx="1920240" cy="1188720"/>
          </a:xfrm>
          <a:prstGeom prst="rect">
            <a:avLst>
              <a:gd name="adj" fmla="val 4615"/>
            </a:avLst>
          </a:prstGeom>
          <a:solidFill>
            <a:srgbClr val="001D3D"/>
          </a:solidFill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1508760"/>
            <a:ext cx="457200" cy="292608"/>
          </a:xfrm>
          <a:prstGeom prst="rect">
            <a:avLst>
              <a:gd name="adj" fmla="val 12500"/>
            </a:avLst>
          </a:prstGeom>
          <a:solidFill>
            <a:srgbClr val="FFC300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15087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exposure / asset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capital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508760"/>
            <a:ext cx="1920240" cy="1188720"/>
          </a:xfrm>
          <a:prstGeom prst="rect">
            <a:avLst>
              <a:gd name="adj" fmla="val 4615"/>
            </a:avLst>
          </a:prstGeom>
          <a:solidFill>
            <a:srgbClr val="001D3D"/>
          </a:solidFill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508760"/>
            <a:ext cx="457200" cy="292608"/>
          </a:xfrm>
          <a:prstGeom prst="rect">
            <a:avLst>
              <a:gd name="adj" fmla="val 12500"/>
            </a:avLst>
          </a:prstGeom>
          <a:solidFill>
            <a:srgbClr val="FFC3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5087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exposure / sector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capital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29400" y="1508760"/>
            <a:ext cx="1920240" cy="1188720"/>
          </a:xfrm>
          <a:prstGeom prst="rect">
            <a:avLst>
              <a:gd name="adj" fmla="val 4615"/>
            </a:avLst>
          </a:prstGeom>
          <a:solidFill>
            <a:srgbClr val="001D3D"/>
          </a:solidFill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29400" y="1508760"/>
            <a:ext cx="457200" cy="292608"/>
          </a:xfrm>
          <a:prstGeom prst="rect">
            <a:avLst>
              <a:gd name="adj" fmla="val 12500"/>
            </a:avLst>
          </a:prstGeom>
          <a:solidFill>
            <a:srgbClr val="FFC300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15087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2084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total exposure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20840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capital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834640"/>
            <a:ext cx="1920240" cy="1188720"/>
          </a:xfrm>
          <a:prstGeom prst="rect">
            <a:avLst>
              <a:gd name="adj" fmla="val 4615"/>
            </a:avLst>
          </a:prstGeom>
          <a:solidFill>
            <a:srgbClr val="001D3D"/>
          </a:solidFill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834640"/>
            <a:ext cx="457200" cy="292608"/>
          </a:xfrm>
          <a:prstGeom prst="rect">
            <a:avLst>
              <a:gd name="adj" fmla="val 12500"/>
            </a:avLst>
          </a:prstGeom>
          <a:solidFill>
            <a:srgbClr val="FFC300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8346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positions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3474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concurrent positions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14600" y="2834640"/>
            <a:ext cx="1920240" cy="1188720"/>
          </a:xfrm>
          <a:prstGeom prst="rect">
            <a:avLst>
              <a:gd name="adj" fmla="val 4615"/>
            </a:avLst>
          </a:prstGeom>
          <a:solidFill>
            <a:srgbClr val="001D3D"/>
          </a:solidFill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14600" y="2834640"/>
            <a:ext cx="457200" cy="292608"/>
          </a:xfrm>
          <a:prstGeom prst="rect">
            <a:avLst>
              <a:gd name="adj" fmla="val 12500"/>
            </a:avLst>
          </a:prstGeom>
          <a:solidFill>
            <a:srgbClr val="FFC300"/>
          </a:solidFill>
          <a:ln/>
        </p:spPr>
      </p:sp>
      <p:sp>
        <p:nvSpPr>
          <p:cNvPr id="32" name="Text 30"/>
          <p:cNvSpPr/>
          <p:nvPr/>
        </p:nvSpPr>
        <p:spPr>
          <a:xfrm>
            <a:off x="2514600" y="28346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60604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danger (A2)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606040" y="3474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P(vol shock) &gt; 0.35  --&gt;  block premium sales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2834640"/>
            <a:ext cx="1920240" cy="1188720"/>
          </a:xfrm>
          <a:prstGeom prst="rect">
            <a:avLst>
              <a:gd name="adj" fmla="val 4615"/>
            </a:avLst>
          </a:prstGeom>
          <a:solidFill>
            <a:srgbClr val="001D3D"/>
          </a:solidFill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0" y="2834640"/>
            <a:ext cx="457200" cy="292608"/>
          </a:xfrm>
          <a:prstGeom prst="rect">
            <a:avLst>
              <a:gd name="adj" fmla="val 12500"/>
            </a:avLst>
          </a:prstGeom>
          <a:solidFill>
            <a:srgbClr val="FFC300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0" y="28346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66344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AVOID_SELL (A3)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663440" y="3474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triggered rule  --&gt;  block premium sales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629400" y="2834640"/>
            <a:ext cx="1920240" cy="1188720"/>
          </a:xfrm>
          <a:prstGeom prst="rect">
            <a:avLst>
              <a:gd name="adj" fmla="val 4615"/>
            </a:avLst>
          </a:prstGeom>
          <a:solidFill>
            <a:srgbClr val="001D3D"/>
          </a:solidFill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29400" y="2834640"/>
            <a:ext cx="457200" cy="292608"/>
          </a:xfrm>
          <a:prstGeom prst="rect">
            <a:avLst>
              <a:gd name="adj" fmla="val 12500"/>
            </a:avLst>
          </a:prstGeom>
          <a:solidFill>
            <a:srgbClr val="FFC300"/>
          </a:solidFill>
          <a:ln/>
        </p:spPr>
      </p:sp>
      <p:sp>
        <p:nvSpPr>
          <p:cNvPr id="42" name="Text 40"/>
          <p:cNvSpPr/>
          <p:nvPr/>
        </p:nvSpPr>
        <p:spPr>
          <a:xfrm>
            <a:off x="6629400" y="28346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72084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Liquidation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720840" y="3474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P&amp;L &lt; -25%  --&gt;  close positions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160520"/>
            <a:ext cx="8092440" cy="457200"/>
          </a:xfrm>
          <a:prstGeom prst="rect">
            <a:avLst>
              <a:gd name="adj" fmla="val 10000"/>
            </a:avLst>
          </a:prstGeom>
          <a:solidFill>
            <a:srgbClr val="000814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160520"/>
            <a:ext cx="8092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NEVER DECIDES  --  it only narrates facts after the deterministic engine has acted.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AURIGA  |  Risk engine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ALPACA INFRASTRUCTURE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Alpaca paper. Real market data. Atomic option spreads.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06040" cy="3246120"/>
          </a:xfrm>
          <a:prstGeom prst="rect">
            <a:avLst>
              <a:gd name="adj" fmla="val 3509"/>
            </a:avLst>
          </a:prstGeom>
          <a:solidFill>
            <a:srgbClr val="001D3D"/>
          </a:solidFill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91440" cy="3246120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642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IEX feed + option chains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 of 1H / 1D bars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option chains (OCC symbols)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Universe: 25 US large caps + ETFs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features (technical + quantitative)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234440"/>
            <a:ext cx="2606040" cy="3246120"/>
          </a:xfrm>
          <a:prstGeom prst="rect">
            <a:avLst>
              <a:gd name="adj" fmla="val 3509"/>
            </a:avLst>
          </a:prstGeom>
          <a:solidFill>
            <a:srgbClr val="001D3D"/>
          </a:solidFill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234440"/>
            <a:ext cx="91440" cy="3246120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11880" y="16642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MLEG multi-leg orders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224028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alpaca-py + multi-leg Level 3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spreads as atomic orders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commissions on paper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 TP/SL + buying-power checks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234440"/>
            <a:ext cx="2606040" cy="3246120"/>
          </a:xfrm>
          <a:prstGeom prst="rect">
            <a:avLst>
              <a:gd name="adj" fmla="val 3509"/>
            </a:avLst>
          </a:prstGeom>
          <a:solidFill>
            <a:srgbClr val="001D3D"/>
          </a:solidFill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234440"/>
            <a:ext cx="91440" cy="3246120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16642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-&gt; signal -&gt; risk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224028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cycle (A1 + A2 + A3)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Current-signal check + spread picker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gates -&gt; paper orders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LLM narrative + Streamlit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8092440" cy="274320"/>
          </a:xfrm>
          <a:prstGeom prst="rect">
            <a:avLst>
              <a:gd name="adj" fmla="val 13333"/>
            </a:avLst>
          </a:prstGeom>
          <a:solidFill>
            <a:srgbClr val="000814"/>
          </a:solidFill>
          <a:ln w="6350">
            <a:solidFill>
              <a:srgbClr val="FFC300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572000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  -&gt;  FEAT  -&gt;  DISC  -&gt;  VAL  -&gt;  SEL  -&gt;  OPT  -&gt;  RSK  -&gt;  EXEC  -&gt;  NAR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AURIGA  |  Alpaca infrastructure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4937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WHY AURIGA IS DEFENSIBLE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that are hard to copy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092440" cy="777240"/>
          </a:xfrm>
          <a:prstGeom prst="rect">
            <a:avLst>
              <a:gd name="adj" fmla="val 7059"/>
            </a:avLst>
          </a:prstGeom>
          <a:solidFill>
            <a:srgbClr val="001D3D"/>
          </a:solidFill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508760" y="1280160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alpha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554480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position traces to a human-readable rule with backtested metrics. Not a black box -- you can read why AURIGA is in a trade.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092440" cy="777240"/>
          </a:xfrm>
          <a:prstGeom prst="rect">
            <a:avLst>
              <a:gd name="adj" fmla="val 7059"/>
            </a:avLst>
          </a:prstGeom>
          <a:solidFill>
            <a:srgbClr val="001D3D"/>
          </a:solidFill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5740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508760" y="2103120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research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377440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measured what does NOT work (long volatility: median Sharpe -2.6) and re-purposed A2 as a risk signal. The system adapts to evidence, not vibes.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092440" cy="777240"/>
          </a:xfrm>
          <a:prstGeom prst="rect">
            <a:avLst>
              <a:gd name="adj" fmla="val 7059"/>
            </a:avLst>
          </a:prstGeom>
          <a:solidFill>
            <a:srgbClr val="001D3D"/>
          </a:solidFill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8036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1508760" y="2926080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orthogonal income streams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debit spreads (trend, A1) + gated premium selling (range / theta, A3) -- one hedges the other in most regimes.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092440" cy="777240"/>
          </a:xfrm>
          <a:prstGeom prst="rect">
            <a:avLst>
              <a:gd name="adj" fmla="val 7059"/>
            </a:avLst>
          </a:prstGeom>
          <a:solidFill>
            <a:srgbClr val="001D3D"/>
          </a:solidFill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70332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1508760" y="3749040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Institutional-grade risk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4023360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deterministic gates + ML risk flags before any order. Fail-closed by design: any gate that cannot be verified blocks the order.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AURIGA  |  Defensible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LIMITATIONS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Stated honestly -- not marketing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092440" cy="960120"/>
          </a:xfrm>
          <a:prstGeom prst="rect">
            <a:avLst>
              <a:gd name="adj" fmla="val 7619"/>
            </a:avLst>
          </a:prstGeom>
          <a:solidFill>
            <a:srgbClr val="001D3D"/>
          </a:solidFill>
          <a:ln w="9525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63040"/>
            <a:ext cx="594360" cy="594360"/>
          </a:xfrm>
          <a:prstGeom prst="rect">
            <a:avLst>
              <a:gd name="adj" fmla="val 9231"/>
            </a:avLst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417320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Options backtest is a synthetic proxy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737360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Alpaca free tier has no historical option prices. Option P&amp;L in backtests is estimated via Black-Scholes repricing (IV = RV + risk premium). Live paper fills (real option quotes) are the ground truth.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092440" cy="960120"/>
          </a:xfrm>
          <a:prstGeom prst="rect">
            <a:avLst>
              <a:gd name="adj" fmla="val 7619"/>
            </a:avLst>
          </a:prstGeom>
          <a:solidFill>
            <a:srgbClr val="001D3D"/>
          </a:solidFill>
          <a:ln w="9525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514600"/>
            <a:ext cx="594360" cy="594360"/>
          </a:xfrm>
          <a:prstGeom prst="rect">
            <a:avLst>
              <a:gd name="adj" fmla="val 9231"/>
            </a:avLst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2468880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final 20% temporal holdout is kept untouched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2788920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strategy discovery and admission, we keep a virgin 20% tail of the data. Metrics shown are from train + validation; holdout results are not claimed yet.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8092440" cy="960120"/>
          </a:xfrm>
          <a:prstGeom prst="rect">
            <a:avLst>
              <a:gd name="adj" fmla="val 7619"/>
            </a:avLst>
          </a:prstGeom>
          <a:solidFill>
            <a:srgbClr val="001D3D"/>
          </a:solidFill>
          <a:ln w="9525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566160"/>
            <a:ext cx="594360" cy="594360"/>
          </a:xfrm>
          <a:prstGeom prst="rect">
            <a:avLst>
              <a:gd name="adj" fmla="val 9231"/>
            </a:avLst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566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8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3520440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days of P&amp;L is a small sample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3840480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during the competition period are indicative, not statistically conclusive. Paper trading research -- not investment advice.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526280"/>
            <a:ext cx="8092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trading research only -- not investment advice.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AURIGA  |  Limitations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5720" cy="45720"/>
          </a:xfrm>
          <a:prstGeom prst="ellipse">
            <a:avLst/>
          </a:prstGeom>
          <a:solidFill>
            <a:srgbClr val="FFC30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640080"/>
            <a:ext cx="64008" cy="64008"/>
          </a:xfrm>
          <a:prstGeom prst="ellipse">
            <a:avLst/>
          </a:prstGeom>
          <a:solidFill>
            <a:srgbClr val="FFC300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365760"/>
            <a:ext cx="45720" cy="45720"/>
          </a:xfrm>
          <a:prstGeom prst="ellipse">
            <a:avLst/>
          </a:prstGeom>
          <a:solidFill>
            <a:srgbClr val="FFC300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457200"/>
            <a:ext cx="54864" cy="54864"/>
          </a:xfrm>
          <a:prstGeom prst="ellipse">
            <a:avLst/>
          </a:prstGeom>
          <a:solidFill>
            <a:srgbClr val="FFC300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80960" y="731520"/>
            <a:ext cx="45720" cy="45720"/>
          </a:xfrm>
          <a:prstGeom prst="ellipse">
            <a:avLst/>
          </a:prstGeom>
          <a:solidFill>
            <a:srgbClr val="FFC300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412480" y="365760"/>
            <a:ext cx="45720" cy="45720"/>
          </a:xfrm>
          <a:prstGeom prst="ellipse">
            <a:avLst/>
          </a:prstGeom>
          <a:solidFill>
            <a:srgbClr val="FFC300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75488" y="384048"/>
            <a:ext cx="822960" cy="274320"/>
          </a:xfrm>
          <a:prstGeom prst="line">
            <a:avLst/>
          </a:prstGeom>
          <a:noFill/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98448" y="658368"/>
            <a:ext cx="822960" cy="-274320"/>
          </a:xfrm>
          <a:prstGeom prst="line">
            <a:avLst/>
          </a:prstGeom>
          <a:noFill/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76288" y="475488"/>
            <a:ext cx="822960" cy="274320"/>
          </a:xfrm>
          <a:prstGeom prst="line">
            <a:avLst/>
          </a:prstGeom>
          <a:noFill/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99248" y="749808"/>
            <a:ext cx="731520" cy="-365760"/>
          </a:xfrm>
          <a:prstGeom prst="line">
            <a:avLst/>
          </a:prstGeom>
          <a:noFill/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"AURIGA doesn't ask an LLM whether to trade."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quantitative system decides. The LLM explains.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657600" y="2834640"/>
            <a:ext cx="1828800" cy="0"/>
          </a:xfrm>
          <a:prstGeom prst="line">
            <a:avLst/>
          </a:prstGeom>
          <a:noFill/>
          <a:ln w="25400">
            <a:solidFill>
              <a:srgbClr val="FFC3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2606040" cy="868680"/>
          </a:xfrm>
          <a:prstGeom prst="rect">
            <a:avLst>
              <a:gd name="adj" fmla="val 6316"/>
            </a:avLst>
          </a:prstGeom>
          <a:solidFill>
            <a:srgbClr val="001D3D"/>
          </a:solidFill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00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520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is human-readable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3108960"/>
            <a:ext cx="2606040" cy="868680"/>
          </a:xfrm>
          <a:prstGeom prst="rect">
            <a:avLst>
              <a:gd name="adj" fmla="val 6316"/>
            </a:avLst>
          </a:prstGeom>
          <a:solidFill>
            <a:srgbClr val="001D3D"/>
          </a:solidFill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3200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74720" y="3520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gates before any order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108960"/>
            <a:ext cx="2606040" cy="868680"/>
          </a:xfrm>
          <a:prstGeom prst="rect">
            <a:avLst>
              <a:gd name="adj" fmla="val 6316"/>
            </a:avLst>
          </a:prstGeom>
          <a:solidFill>
            <a:srgbClr val="001D3D"/>
          </a:solidFill>
          <a:ln w="6350">
            <a:solidFill>
              <a:srgbClr val="FFC300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200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EVIDENCE-DRIVEN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55080" y="3520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what does not work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 --&gt;  github.com/keisary/AURIGA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 --  looking forward to the jury's questions.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Alpaca AI Trading Agents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AURIGA - Submission Deck</dc:title>
  <dc:subject>PptxGenJS Presentation</dc:subject>
  <dc:creator>AURIGA Team</dc:creator>
  <cp:lastModifiedBy>AURIGA Team</cp:lastModifiedBy>
  <cp:revision>1</cp:revision>
  <dcterms:created xsi:type="dcterms:W3CDTF">2026-09-04T10:10:40Z</dcterms:created>
  <dcterms:modified xsi:type="dcterms:W3CDTF">2026-09-04T10:10:40Z</dcterms:modified>
</cp:coreProperties>
</file>